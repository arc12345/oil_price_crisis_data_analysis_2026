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Overpass Light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jit roy" userId="3e0ff4732f2eed55" providerId="LiveId" clId="{1D4F8650-EC3E-4F92-8250-B25C0C98456B}"/>
    <pc:docChg chg="modSld">
      <pc:chgData name="arijit roy" userId="3e0ff4732f2eed55" providerId="LiveId" clId="{1D4F8650-EC3E-4F92-8250-B25C0C98456B}" dt="2026-05-06T09:10:08.557" v="17" actId="20577"/>
      <pc:docMkLst>
        <pc:docMk/>
      </pc:docMkLst>
      <pc:sldChg chg="modSp mod">
        <pc:chgData name="arijit roy" userId="3e0ff4732f2eed55" providerId="LiveId" clId="{1D4F8650-EC3E-4F92-8250-B25C0C98456B}" dt="2026-05-06T09:10:08.557" v="17" actId="20577"/>
        <pc:sldMkLst>
          <pc:docMk/>
          <pc:sldMk cId="0" sldId="256"/>
        </pc:sldMkLst>
        <pc:spChg chg="mod">
          <ac:chgData name="arijit roy" userId="3e0ff4732f2eed55" providerId="LiveId" clId="{1D4F8650-EC3E-4F92-8250-B25C0C98456B}" dt="2026-05-06T09:10:08.557" v="1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36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17142"/>
            <a:ext cx="45818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Global Oil </a:t>
            </a:r>
            <a:r>
              <a:rPr lang="en-US" sz="2750" b="1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Crisis </a:t>
            </a: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Comprehensive review of Brent and WTI price movements during geopolitical crisis event window: 20 Feb 2026 to 25 Apr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1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Highlights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97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$127.6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Brent Peak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Maximum price reached on 02 Apr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97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$112.5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WTI Peak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Maximum price reached on 02 Apr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24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 Days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43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Out of 34 total observations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0.9894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Correlation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43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Brent-WTI relationship remained extremely 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2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Both benchmarks experienced dramatic repricing during the event window, with Brent advancing from $69.4 to $127.6 and WTI from $64.5 to $112.5. The market showed strong comovement throughout the crisis period.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234"/>
            <a:ext cx="51184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Movement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37580"/>
            <a:ext cx="20643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Observation Window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00795"/>
            <a:ext cx="47526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20 Feb 2026 to 25 Apr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1969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Starting Prices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32583"/>
            <a:ext cx="4752677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Brent: $69.4 per barrel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WTI: $64.5 per barrel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9775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Ending Prices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340745"/>
            <a:ext cx="4752677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Brent: $106.0 per barrel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WTI: $94.0 per barrel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39856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 Window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4348907"/>
            <a:ext cx="47526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March 1 to April 8 marked by pink shaded region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5" y="1983581"/>
            <a:ext cx="3053135" cy="1831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3451"/>
            <a:ext cx="72544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 vs Normal Regime Comparison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9956"/>
            <a:ext cx="2622724" cy="1676921"/>
          </a:xfrm>
          <a:prstGeom prst="roundRect">
            <a:avLst>
              <a:gd name="adj" fmla="val 3551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36477"/>
            <a:ext cx="19076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Average Brent Price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4298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Event Days: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$112.71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2640" y="25548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Normal Days: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$82.16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640" y="2866727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37.2% increase during event regime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89956"/>
            <a:ext cx="2622724" cy="1676921"/>
          </a:xfrm>
          <a:prstGeom prst="roundRect">
            <a:avLst>
              <a:gd name="adj" fmla="val 3551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7122" y="1936477"/>
            <a:ext cx="17942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Average WTI Price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07122" y="224298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Event Days: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$102.43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07122" y="25548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Normal Days: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$74.29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7122" y="2866727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37.9% increase during event regime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1789956"/>
            <a:ext cx="2622724" cy="1676921"/>
          </a:xfrm>
          <a:prstGeom prst="roundRect">
            <a:avLst>
              <a:gd name="adj" fmla="val 3551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1605" y="1936477"/>
            <a:ext cx="20301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Average Daily Return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1605" y="224298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 Event: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2.16%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1605" y="255485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 Normal: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-0.16%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1605" y="2866727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Event regime concentrated strongest upside sessions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62634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event regime structurally lifted both benchmarks, with average prices significantly higher and stronger positive returns compared to normal days.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6638"/>
            <a:ext cx="408436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Price Discovery Phases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64856" y="1000944"/>
            <a:ext cx="14288" cy="3775844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4" name="Shape 2"/>
          <p:cNvSpPr/>
          <p:nvPr/>
        </p:nvSpPr>
        <p:spPr>
          <a:xfrm>
            <a:off x="4056385" y="1138312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5" name="Shape 3"/>
          <p:cNvSpPr/>
          <p:nvPr/>
        </p:nvSpPr>
        <p:spPr>
          <a:xfrm>
            <a:off x="4427488" y="1000944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5671" y="1025017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23728" y="104507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Pre-crisis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9610" y="1315566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7 observations showing stable baseline with average Brent ~71.04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2225" y="1885057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10" name="Shape 8"/>
          <p:cNvSpPr/>
          <p:nvPr/>
        </p:nvSpPr>
        <p:spPr>
          <a:xfrm>
            <a:off x="4427488" y="1747689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5671" y="1771762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4342" y="1791816"/>
            <a:ext cx="169113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Shock &amp; Escalation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4342" y="2062311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11 days with rapid repricing: Brent jumped 47.65% in first week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56385" y="2537445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7488" y="2400077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5671" y="2424150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323728" y="244420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Peak Crisis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9610" y="2714699"/>
            <a:ext cx="34800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9 days reaching maximum prices: Brent $127.6, WTI $112.5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2225" y="3189833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7488" y="3052465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5671" y="3076538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4342" y="309659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Extreme Swings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4342" y="3367088"/>
            <a:ext cx="34800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4 days with violent repricing and highest volatility readings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56385" y="3842221"/>
            <a:ext cx="385390" cy="14288"/>
          </a:xfrm>
          <a:prstGeom prst="roundRect">
            <a:avLst>
              <a:gd name="adj" fmla="val 377661"/>
            </a:avLst>
          </a:prstGeom>
          <a:solidFill>
            <a:srgbClr val="C3D4CC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7488" y="3704853"/>
            <a:ext cx="289024" cy="289024"/>
          </a:xfrm>
          <a:prstGeom prst="roundRect">
            <a:avLst>
              <a:gd name="adj" fmla="val 18670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5671" y="3728926"/>
            <a:ext cx="192658" cy="240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323728" y="374898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De-escalation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49610" y="4019476"/>
            <a:ext cx="3480048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3 days showing cooling process with negative average returns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418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Spread Dynamics and Volatility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345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Brent-WTI Spread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097732"/>
            <a:ext cx="2188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Average spread: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$9.57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452092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Maximum spread: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$20.20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on 10 Apr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033266"/>
            <a:ext cx="2188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Price correlation: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0.9894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387626"/>
            <a:ext cx="21884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Return correlation: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0.9048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3741986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Widening spread indicates larger geopolitical premium embedded in Brent-linked pricing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35201" y="17345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Volatility Profile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35201" y="2097732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Brent volatility: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0.0474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(event) vs 0.0441 (normal)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35201" y="2678906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WTI volatility: </a:t>
            </a:r>
            <a:r>
              <a:rPr lang="en-US" sz="110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0.0474</a:t>
            </a: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(event) vs 0.0441 (normal)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35201" y="3260080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Peak volatility reached 0.072 for Brent and 0.062 for WTI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35201" y="3841254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Higher price level combined with elevated volatility creates most difficult risk mix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75493"/>
            <a:ext cx="399611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Implications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72901" y="1055340"/>
            <a:ext cx="4034730" cy="1229916"/>
          </a:xfrm>
          <a:prstGeom prst="roundRect">
            <a:avLst>
              <a:gd name="adj" fmla="val 7435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3851" y="1055340"/>
            <a:ext cx="76200" cy="1229916"/>
          </a:xfrm>
          <a:prstGeom prst="roundRect">
            <a:avLst>
              <a:gd name="adj" fmla="val 74477"/>
            </a:avLst>
          </a:prstGeom>
          <a:solidFill>
            <a:srgbClr val="224435"/>
          </a:solidFill>
          <a:ln/>
        </p:spPr>
      </p:sp>
      <p:sp>
        <p:nvSpPr>
          <p:cNvPr id="5" name="Text 3"/>
          <p:cNvSpPr/>
          <p:nvPr/>
        </p:nvSpPr>
        <p:spPr>
          <a:xfrm>
            <a:off x="684163" y="1209452"/>
            <a:ext cx="189331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Procurement Teams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4163" y="1497806"/>
            <a:ext cx="366935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Event regime raises probability of spot purchases becoming materially more expensive in short time. Pre-defined risk triggers and hedge bands essential.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6368" y="1055340"/>
            <a:ext cx="4034730" cy="1229916"/>
          </a:xfrm>
          <a:prstGeom prst="roundRect">
            <a:avLst>
              <a:gd name="adj" fmla="val 7435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318" y="1055340"/>
            <a:ext cx="76200" cy="1229916"/>
          </a:xfrm>
          <a:prstGeom prst="roundRect">
            <a:avLst>
              <a:gd name="adj" fmla="val 74477"/>
            </a:avLst>
          </a:prstGeom>
          <a:solidFill>
            <a:srgbClr val="224435"/>
          </a:solidFill>
          <a:ln/>
        </p:spPr>
      </p:sp>
      <p:sp>
        <p:nvSpPr>
          <p:cNvPr id="9" name="Text 7"/>
          <p:cNvSpPr/>
          <p:nvPr/>
        </p:nvSpPr>
        <p:spPr>
          <a:xfrm>
            <a:off x="4847630" y="1209452"/>
            <a:ext cx="179843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Treasury &amp; Hedging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7630" y="1497806"/>
            <a:ext cx="366935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Higher price level and elevated volatility increase value of exposure reporting. Multiple scenarios needed beyond single base-case assumption.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901" y="2413992"/>
            <a:ext cx="4034730" cy="1441028"/>
          </a:xfrm>
          <a:prstGeom prst="roundRect">
            <a:avLst>
              <a:gd name="adj" fmla="val 6345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851" y="2413992"/>
            <a:ext cx="76200" cy="1441028"/>
          </a:xfrm>
          <a:prstGeom prst="roundRect">
            <a:avLst>
              <a:gd name="adj" fmla="val 74477"/>
            </a:avLst>
          </a:prstGeom>
          <a:solidFill>
            <a:srgbClr val="224435"/>
          </a:solidFill>
          <a:ln/>
        </p:spPr>
      </p:sp>
      <p:sp>
        <p:nvSpPr>
          <p:cNvPr id="13" name="Text 11"/>
          <p:cNvSpPr/>
          <p:nvPr/>
        </p:nvSpPr>
        <p:spPr>
          <a:xfrm>
            <a:off x="684163" y="2568104"/>
            <a:ext cx="198871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Commercial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4163" y="2856458"/>
            <a:ext cx="366935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Organizations exposed to Brent-based pricing should pay special attention to spread analysis. Widening premium means generic oil price commentary may understate actual cost pressure.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6368" y="2413992"/>
            <a:ext cx="4034730" cy="1441028"/>
          </a:xfrm>
          <a:prstGeom prst="roundRect">
            <a:avLst>
              <a:gd name="adj" fmla="val 6345"/>
            </a:avLst>
          </a:prstGeom>
          <a:solidFill>
            <a:srgbClr val="FFFDE6"/>
          </a:solidFill>
          <a:ln w="19050">
            <a:solidFill>
              <a:srgbClr val="C3D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318" y="2413992"/>
            <a:ext cx="76200" cy="1441028"/>
          </a:xfrm>
          <a:prstGeom prst="roundRect">
            <a:avLst>
              <a:gd name="adj" fmla="val 74477"/>
            </a:avLst>
          </a:prstGeom>
          <a:solidFill>
            <a:srgbClr val="22443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7630" y="2568104"/>
            <a:ext cx="21463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Operational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7630" y="2856458"/>
            <a:ext cx="366935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Treat dashboard and SQL as nucleus of ongoing monitoring system. Add threshold alerts, maintain daily refresh process, document volatility methodology.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901" y="3999905"/>
            <a:ext cx="8198197" cy="768028"/>
          </a:xfrm>
          <a:prstGeom prst="roundRect">
            <a:avLst>
              <a:gd name="adj" fmla="val 7389"/>
            </a:avLst>
          </a:prstGeom>
          <a:solidFill>
            <a:srgbClr val="FCF2B5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63" y="4188544"/>
            <a:ext cx="168846" cy="13506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1870" y="4162351"/>
            <a:ext cx="762416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Critical Insight:</a:t>
            </a:r>
            <a:r>
              <a:rPr lang="en-US" sz="1050" dirty="0">
                <a:solidFill>
                  <a:srgbClr val="000000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De-escalation does not imply full return to baseline. Brent ended at $106.0 (47% above start), WTI at $94.0 (46% above start). Residual premium remains even after initial panic eased.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Syne Bold</vt:lpstr>
      <vt:lpstr>Overpass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arijit roy</cp:lastModifiedBy>
  <cp:revision>1</cp:revision>
  <dcterms:created xsi:type="dcterms:W3CDTF">2026-05-06T09:00:31Z</dcterms:created>
  <dcterms:modified xsi:type="dcterms:W3CDTF">2026-05-06T09:10:08Z</dcterms:modified>
</cp:coreProperties>
</file>